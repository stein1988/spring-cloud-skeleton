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2286000" cy="166878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项目框架基础与多模块架构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2468880"/>
            <a:ext cx="27432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B0C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Cloud Skeleton 开发体系系列课程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课程时长：45分钟（含代码演示）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前置要求：Java基础，Spring Boot基本概念</a:t>
            </a:r>
            <a:endParaRPr lang="en-US" sz="12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课程内容概览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316736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16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2801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项目设计目的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35024"/>
            <a:ext cx="320040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1810512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63040" y="1773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项目技术栈概览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14400" y="2304288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2304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463040" y="22677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ORM框架：Easy-Query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22576"/>
            <a:ext cx="320040" cy="320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4400" y="279806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463040" y="27614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对象转换框架：MapStruct-Plus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16352"/>
            <a:ext cx="320040" cy="3200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17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463040" y="32552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多模块架构设计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310128"/>
            <a:ext cx="320040" cy="32004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14400" y="3785616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463040" y="374904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分层架构体系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03904"/>
            <a:ext cx="320040" cy="32004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14400" y="4279392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3"/>
          <p:cNvSpPr/>
          <p:nvPr/>
        </p:nvSpPr>
        <p:spPr>
          <a:xfrm>
            <a:off x="9144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463040" y="42428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代码演示</a:t>
            </a:r>
            <a:endParaRPr lang="en-US" sz="1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297680"/>
            <a:ext cx="320040" cy="32004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14400" y="4773168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26"/>
          <p:cNvSpPr/>
          <p:nvPr/>
        </p:nvSpPr>
        <p:spPr>
          <a:xfrm>
            <a:off x="91440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1463040" y="47365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课程总结</a:t>
            </a:r>
            <a:endParaRPr lang="en-US" sz="14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791456"/>
            <a:ext cx="320040" cy="32004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5943600" y="1280160"/>
            <a:ext cx="2743200" cy="347472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39" name="Shape 29"/>
          <p:cNvSpPr/>
          <p:nvPr/>
        </p:nvSpPr>
        <p:spPr>
          <a:xfrm>
            <a:off x="5943600" y="1280160"/>
            <a:ext cx="54864" cy="3474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0" name="Text 30"/>
          <p:cNvSpPr/>
          <p:nvPr/>
        </p:nvSpPr>
        <p:spPr>
          <a:xfrm>
            <a:off x="621792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8个章节</a:t>
            </a:r>
            <a:endParaRPr lang="en-US" sz="2000" dirty="0"/>
          </a:p>
        </p:txBody>
      </p:sp>
      <p:sp>
        <p:nvSpPr>
          <p:cNvPr id="41" name="Text 31"/>
          <p:cNvSpPr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45分钟</a:t>
            </a:r>
            <a:endParaRPr lang="en-US" sz="1600" dirty="0"/>
          </a:p>
        </p:txBody>
      </p:sp>
      <p:sp>
        <p:nvSpPr>
          <p:cNvPr id="42" name="Text 32"/>
          <p:cNvSpPr/>
          <p:nvPr/>
        </p:nvSpPr>
        <p:spPr>
          <a:xfrm>
            <a:off x="6217920" y="2560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从基础框架到多模块架构，全面掌握项目开发体系</a:t>
            </a:r>
            <a:endParaRPr lang="en-US" sz="11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743200" cy="2743200"/>
          </a:xfrm>
          <a:prstGeom prst="ellipse">
            <a:avLst/>
          </a:prstGeom>
          <a:solidFill>
            <a:srgbClr val="2A508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项目设计目的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规范化开发 · 功能封装 · 持续演进</a:t>
            </a:r>
            <a:endParaRPr lang="en-US" sz="14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项目设计目的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为什么要构建这个开发体系？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2377440" cy="25603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71600"/>
            <a:ext cx="237744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645920"/>
            <a:ext cx="640080" cy="64008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77393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规范化开发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统一代码结构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减少错误率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1371600"/>
            <a:ext cx="2377440" cy="25603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1"/>
          <p:cNvSpPr/>
          <p:nvPr/>
        </p:nvSpPr>
        <p:spPr>
          <a:xfrm>
            <a:off x="4251960" y="1645920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7739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功能封装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6616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提高开发效率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专注业务逻辑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0760" y="1371600"/>
            <a:ext cx="2377440" cy="25603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371600"/>
            <a:ext cx="2377440" cy="54864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9440" y="1645920"/>
            <a:ext cx="640080" cy="640080"/>
          </a:xfrm>
          <a:prstGeom prst="ellipse">
            <a:avLst/>
          </a:prstGeom>
          <a:solidFill>
            <a:srgbClr val="2A5080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7739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持续演进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6364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不断封装业务功能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形成组件库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规范化开发，减少错误率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00" cy="73152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88720"/>
            <a:ext cx="54864" cy="7315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统一代码结构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37360" y="15727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所有模块遵循相同分层：Entity → Repository → Service → Controller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2057400"/>
            <a:ext cx="7315200" cy="73152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057400"/>
            <a:ext cx="54864" cy="7315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945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标准化组件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737360" y="244144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提供经过验证的基础组件，避免重复造轮子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14400" y="2926080"/>
            <a:ext cx="7315200" cy="73152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2926080"/>
            <a:ext cx="54864" cy="7315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63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类型安全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37360" y="331012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编译期检查，减少运行时错误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" y="3794760"/>
            <a:ext cx="7315200" cy="731520"/>
          </a:xfrm>
          <a:prstGeom prst="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3794760"/>
            <a:ext cx="54864" cy="7315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319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自动化处理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737360" y="41788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主键生成、审计字段、逻辑删除等通用功能自动处理</a:t>
            </a:r>
            <a:endParaRPr lang="en-US" sz="11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基本功能封装，提高开发效率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8872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开箱即用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37360" y="15727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基础CRUD操作只需继承基类即可使用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2057400"/>
            <a:ext cx="73152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05740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945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快速开发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737360" y="244144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新增一个完整业务模块只需6步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14400" y="2926080"/>
            <a:ext cx="73152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292608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63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减少样板代码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37360" y="331012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+ MapStruct-Plus 大幅简化代码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" y="3794760"/>
            <a:ext cx="73152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3794760"/>
            <a:ext cx="54864" cy="7315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319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专注业务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737360" y="41788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更多精力放在业务逻辑上，而非基础设施</a:t>
            </a:r>
            <a:endParaRPr lang="en-US" sz="11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2743200" cy="2743200"/>
          </a:xfrm>
          <a:prstGeom prst="ellipse">
            <a:avLst/>
          </a:prstGeom>
          <a:solidFill>
            <a:srgbClr val="2A508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框架基础组件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 · Easy-Query · MapStruct-Plus · 核心组件</a:t>
            </a:r>
            <a:endParaRPr lang="en-US" sz="14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核心框架版本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371600"/>
            <a:ext cx="34747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645920"/>
            <a:ext cx="731520" cy="73152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179222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926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4.0.5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09728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 Spring Boot 4.x 版本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34747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0" y="1645920"/>
            <a:ext cx="731520" cy="73152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79222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37760" y="2514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937760" y="2926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493776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采用最新 LTS 版本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核心依赖组件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easy-query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ORM数据库框架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mapstruct-plus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对象映射转换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Lombok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代码简化工具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Sa-Token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权限认证框架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HikariCP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数据库连接池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关系型数据库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项目结构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spring-cloud-skeleton/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                    # 父POM，统一版本管理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module-base/               # 基础模块（通用组件、工具类）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entity/                # 基础实体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repository/            # 基础仓库接口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service/               # 基础服务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dto/                   # 通用DTO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exception/             # 异常处理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response/              # 统一响应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module-user/               # 用户模块（业务实现）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domain/                # 领域层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infrastructure/        # 基础设施层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application/           # 应用层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api/                   # 接口层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                      # 文档目录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2743200" cy="3474720"/>
          </a:xfrm>
          <a:prstGeom prst="rect">
            <a:avLst>
              <a:gd name="adj" fmla="val 2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1188720"/>
            <a:ext cx="54864" cy="3474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37160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父POM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66666"/>
                </a:solidFill>
              </a:rPr>
              <a:t>统一版本管理，避免版本冲突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module-base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66666"/>
                </a:solidFill>
              </a:rPr>
              <a:t>通用组件、工具类、基础抽象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module-user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66666"/>
                </a:solidFill>
              </a:rPr>
              <a:t>具体业务实现示例模块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docs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项目文档目录</a:t>
            </a:r>
            <a:endParaRPr lang="en-US" sz="13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ORM框架：Easy-Query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轻量级、高性能的Java ORM框架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371600"/>
            <a:ext cx="54864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645920"/>
            <a:ext cx="457200" cy="45720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类型安全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373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编译期检查，避免SQL拼写错误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37160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371600"/>
            <a:ext cx="54864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5074920" y="1645920"/>
            <a:ext cx="457200" cy="45720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Lambda表达式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692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链式调用，代码可读性强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14400" y="283464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2834640"/>
            <a:ext cx="54864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6"/>
          <p:cNvSpPr/>
          <p:nvPr/>
        </p:nvSpPr>
        <p:spPr>
          <a:xfrm>
            <a:off x="1143000" y="3108960"/>
            <a:ext cx="457200" cy="45720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2004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代理实体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73736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自动生成Proxy类，支持导航属性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46320" y="283464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2834640"/>
            <a:ext cx="54864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1"/>
          <p:cNvSpPr/>
          <p:nvPr/>
        </p:nvSpPr>
        <p:spPr>
          <a:xfrm>
            <a:off x="5074920" y="3108960"/>
            <a:ext cx="457200" cy="45720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20040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高性能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6692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底层优化，查询效率高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Easy-Query：实体定义特点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@FieldNameConstants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@EqualsAndHashCode(callSuper = 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@Table(value = "sys_user",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ignoreProperties = {BaseEntity.Fields.tenantId})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@EntityProxy  // 启用代理生成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 extends BaseEntity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ProxyEntityAvailable&lt;User, UserProxy&gt;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username;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passwordHash;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UUID currentTenantId;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@Navigate(value = RelationTypeEnum.OneToOne,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selfProperty = Fields.currentTenantId,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targetProperty = BaseEntity.Fields.id)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Tenant currentTenant;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280160"/>
            <a:ext cx="4572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325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注解驱动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@EntityProxy、@Table等注解配置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2103120"/>
            <a:ext cx="4572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148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导航属性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支持OneToOne、OneToMany关联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92608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2926080"/>
            <a:ext cx="4572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自动管理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主键、审计字段、逻辑删除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74904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3749040"/>
            <a:ext cx="4572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类型安全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编译期检查字段名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Easy-Query：基础实体字段（BaseEntity）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主键，UUIDv7算法自动生成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租户ID（多租户支持）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部门ID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创建时间（UTC）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更新时间（UTC）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createBy / updateBy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创建人/更新人ID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逻辑删除标志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乐观锁版本号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Easy-Query：仓库功能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463040" cy="22860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14630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691640"/>
            <a:ext cx="640080" cy="64008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18196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基础CRUD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增删改查开箱即用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77440" y="1463040"/>
            <a:ext cx="1463040" cy="22860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77440" y="1463040"/>
            <a:ext cx="14630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0"/>
          <p:cNvSpPr/>
          <p:nvPr/>
        </p:nvSpPr>
        <p:spPr>
          <a:xfrm>
            <a:off x="2788920" y="1691640"/>
            <a:ext cx="640080" cy="64008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181965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条件查询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468880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Lambda表达式链式调用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023360" y="1463040"/>
            <a:ext cx="1463040" cy="22860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023360" y="1463040"/>
            <a:ext cx="14630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5"/>
          <p:cNvSpPr/>
          <p:nvPr/>
        </p:nvSpPr>
        <p:spPr>
          <a:xfrm>
            <a:off x="4434840" y="1691640"/>
            <a:ext cx="640080" cy="64008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181965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14800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分页查询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114800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内置分页支持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669280" y="1463040"/>
            <a:ext cx="1463040" cy="22860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669280" y="1463040"/>
            <a:ext cx="14630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0"/>
          <p:cNvSpPr/>
          <p:nvPr/>
        </p:nvSpPr>
        <p:spPr>
          <a:xfrm>
            <a:off x="6080760" y="1691640"/>
            <a:ext cx="640080" cy="64008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81965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60720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关联查询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760720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导航属性自动加载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315200" y="1463040"/>
            <a:ext cx="1463040" cy="22860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15200" y="1463040"/>
            <a:ext cx="14630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Shape 25"/>
          <p:cNvSpPr/>
          <p:nvPr/>
        </p:nvSpPr>
        <p:spPr>
          <a:xfrm>
            <a:off x="7726680" y="1691640"/>
            <a:ext cx="640080" cy="64008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6" y="1819656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406640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批量操作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406640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批量新增、更新、删除</a:t>
            </a:r>
            <a:endParaRPr lang="en-US" sz="10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Easy-Query：查询示例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根据ID查询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Optional&lt;User&gt; user = repository.getById(id);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条件查询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List&lt;User&gt; users = repository.getAll(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-&gt; p.username().eq("admin")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分页查询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PageResult&lt;User&gt; result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repository.getPagination(queryDto, pageable);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包含关联数据查询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Optional&lt;User&gt; user = repository.getById(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 List.of("currentTenant", "roles"), false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80760" y="141732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ID查询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627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getById(id)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224028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条件查询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4505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getAll(predicate)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92608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306324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971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分页查询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getPagination(dto, page)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3749040"/>
            <a:ext cx="2926080" cy="685800"/>
          </a:xfrm>
          <a:prstGeom prst="rect">
            <a:avLst>
              <a:gd name="adj" fmla="val 1066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388620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关联查询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096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getById(id, includes)</a:t>
            </a:r>
            <a:endParaRPr lang="en-US" sz="10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对象转换框架：MapStruct-Plus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MapStruct的增强版本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371600"/>
            <a:ext cx="54864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645920"/>
            <a:ext cx="457200" cy="4572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编译期代码生成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373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运行时零开销，性能最优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37160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371600"/>
            <a:ext cx="54864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1"/>
          <p:cNvSpPr/>
          <p:nvPr/>
        </p:nvSpPr>
        <p:spPr>
          <a:xfrm>
            <a:off x="5074920" y="1645920"/>
            <a:ext cx="457200" cy="4572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Lombok兼容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692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与Lombok无缝集成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14400" y="283464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2834640"/>
            <a:ext cx="54864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6"/>
          <p:cNvSpPr/>
          <p:nvPr/>
        </p:nvSpPr>
        <p:spPr>
          <a:xfrm>
            <a:off x="1143000" y="3108960"/>
            <a:ext cx="457200" cy="4572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2004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增强注解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73736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简化配置，开箱即用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46320" y="2834640"/>
            <a:ext cx="356616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2834640"/>
            <a:ext cx="54864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1"/>
          <p:cNvSpPr/>
          <p:nvPr/>
        </p:nvSpPr>
        <p:spPr>
          <a:xfrm>
            <a:off x="5074920" y="3108960"/>
            <a:ext cx="457200" cy="45720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20040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类型安全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6692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编译期检查，避免运行时错误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MapStruct-Plus：构建配置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&lt;plugin&gt;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&lt;groupId&gt;org.apache.maven.plugins&lt;/groupId&gt;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&lt;artifactId&gt;maven-compiler-plugin&lt;/artifactId&gt;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&lt;configuration&gt;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&lt;annotationProcessorPaths&gt;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&lt;!-- Lombok --&gt;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&lt;path&gt;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&lt;groupId&gt;org.projectlombok&lt;/groupId&gt;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&lt;artifactId&gt;lombok&lt;/artifactId&gt;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&lt;/path&gt;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&lt;!-- MapStruct-Plus --&gt;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&lt;path&gt;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&lt;groupId&gt;io.github.linpeilie&lt;/groupId&gt;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&lt;artifactId&gt;mapstruct-plus-processor&lt;/artifactId&gt;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&lt;/path&gt;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&lt;!-- Lombok-MapStruct绑定 --&gt;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&lt;path&gt;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&lt;groupId&gt;org.projectlombok&lt;/groupId&gt;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&lt;artifactId&gt;lombok-mapstruct-binding&lt;/artifactId&gt;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&lt;/path&gt;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&lt;/annotationProcessorPaths&gt;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&lt;/configuration&gt;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&lt;/plugin&gt;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926080" cy="32004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54864" cy="3200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构建流程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配置注解处理器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73368" y="2377440"/>
            <a:ext cx="0" cy="27432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65176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606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Lombok处理字段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73368" y="2971800"/>
            <a:ext cx="0" cy="27432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324612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200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MapStruct-Plus生成转换代码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73368" y="3566160"/>
            <a:ext cx="0" cy="27432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17920" y="384048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794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编译完成，零运行时依赖</a:t>
            </a:r>
            <a:endParaRPr lang="en-US" sz="11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MapStruct-Plus：在Service中使用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@Transactional(rollbackFor = Exception.class)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EntityServiceImpl&lt;T, TProxy&gt;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implements EntityService&lt;T, TProxy&gt;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final Converter converter;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final Repository&lt;T, TProxy&gt; repository;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创建实体：DTO -&gt; Entity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 createEntity(Object createDto)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entity = converter.convert(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createDto, entityType);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repository.insert(entity);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entity;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更新实体：DTO -&gt; Entity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updateEntity(UUID id, Object updateDto)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this.updateEntity(id, (Function&lt;T, T&gt;)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entity -&gt; converter.convert(updateDto, entity));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926080" cy="32004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54864" cy="3200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使用方式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2996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注入Converter实例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871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一行代码完成对象转换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443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DTO → Entity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40156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Entity → DTO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587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83680" y="3840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支持批量转换</a:t>
            </a:r>
            <a:endParaRPr lang="en-US" sz="11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对象转换方案对比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类型安全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维护成本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手动转换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BeanUtils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MapStruct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MapStruct-Plus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4023360"/>
            <a:ext cx="7315200" cy="640080"/>
          </a:xfrm>
          <a:prstGeom prst="rect">
            <a:avLst>
              <a:gd name="adj" fmla="val 11429"/>
            </a:avLst>
          </a:prstGeom>
          <a:solidFill>
            <a:srgbClr val="FFF3ED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4023360"/>
            <a:ext cx="54864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4023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推荐方案：MapStruct-Plus — 高性能 + 类型安全 + 极少代码量 + 极低维护成本</a:t>
            </a:r>
            <a:endParaRPr lang="en-US" sz="13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其他核心组件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51760" cy="320040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65176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508760"/>
            <a:ext cx="640080" cy="64008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63677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Sa-Token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轻量级Java权限认证框架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登录认证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9067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权限验证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Session管理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3931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JWT集成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13632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4160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API签名校验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87952"/>
            <a:ext cx="201168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429000" y="1280160"/>
            <a:ext cx="2651760" cy="320040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3429000" y="1280160"/>
            <a:ext cx="26517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15"/>
          <p:cNvSpPr/>
          <p:nvPr/>
        </p:nvSpPr>
        <p:spPr>
          <a:xfrm>
            <a:off x="4434840" y="1508760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1636776"/>
            <a:ext cx="384048" cy="38404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SpringDoc OpenAPI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356616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API文档自动生成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379476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支持Swagger UI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3090672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79476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注解驱动</a:t>
            </a:r>
            <a:endParaRPr lang="en-US" sz="10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3364992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79476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零配置</a:t>
            </a:r>
            <a:endParaRPr lang="en-US" sz="10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3639312"/>
            <a:ext cx="201168" cy="201168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6309360" y="1280160"/>
            <a:ext cx="2651760" cy="320040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309360" y="1280160"/>
            <a:ext cx="2651760" cy="45720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35" name="Shape 23"/>
          <p:cNvSpPr/>
          <p:nvPr/>
        </p:nvSpPr>
        <p:spPr>
          <a:xfrm>
            <a:off x="7315200" y="1508760"/>
            <a:ext cx="640080" cy="640080"/>
          </a:xfrm>
          <a:prstGeom prst="ellipse">
            <a:avLst/>
          </a:prstGeom>
          <a:solidFill>
            <a:srgbClr val="2A5080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3216" y="1636776"/>
            <a:ext cx="384048" cy="38404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4465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UUID v7</a:t>
            </a:r>
            <a:endParaRPr lang="en-US" sz="1500" dirty="0"/>
          </a:p>
        </p:txBody>
      </p:sp>
      <p:sp>
        <p:nvSpPr>
          <p:cNvPr id="38" name="Text 25"/>
          <p:cNvSpPr/>
          <p:nvPr/>
        </p:nvSpPr>
        <p:spPr>
          <a:xfrm>
            <a:off x="644652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分布式ID生成</a:t>
            </a:r>
            <a:endParaRPr lang="en-US" sz="1000" dirty="0"/>
          </a:p>
        </p:txBody>
      </p:sp>
      <p:sp>
        <p:nvSpPr>
          <p:cNvPr id="39" name="Text 26"/>
          <p:cNvSpPr/>
          <p:nvPr/>
        </p:nvSpPr>
        <p:spPr>
          <a:xfrm>
            <a:off x="667512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时间有序</a:t>
            </a:r>
            <a:endParaRPr lang="en-US" sz="10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3090672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67512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索引友好</a:t>
            </a:r>
            <a:endParaRPr lang="en-US" sz="10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3364992"/>
            <a:ext cx="201168" cy="20116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6751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分布式安全</a:t>
            </a:r>
            <a:endParaRPr lang="en-US" sz="100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3639312"/>
            <a:ext cx="201168" cy="201168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2743200" cy="2743200"/>
          </a:xfrm>
          <a:prstGeom prst="ellipse">
            <a:avLst/>
          </a:prstGeom>
          <a:solidFill>
            <a:srgbClr val="2A508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多模块代码架构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模块划分 · 分层架构 · 代码演示</a:t>
            </a:r>
            <a:endParaRPr lang="en-US" sz="14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多模块架构设计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365760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508760"/>
            <a:ext cx="548640" cy="54864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618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1508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module-base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基础模块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2560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entity/ - 基础实体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" y="2852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 - 基础仓库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31455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 - 基础服务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97280" y="34381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 - 通用DTO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" y="37307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 - 异常处理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response/ - 统一响应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36576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280160"/>
            <a:ext cx="36576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Shape 16"/>
          <p:cNvSpPr/>
          <p:nvPr/>
        </p:nvSpPr>
        <p:spPr>
          <a:xfrm>
            <a:off x="5486400" y="1508760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61848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17920" y="1508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module-user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业务模块（示例）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20640" y="2560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 - 领域层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120640" y="2852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 - 基础设施层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120640" y="31455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 - 应用层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120640" y="34381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 - 接口层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389120" y="2743200"/>
            <a:ext cx="4572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4297680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</a:t>
            </a:r>
            <a:endParaRPr lang="en-US" sz="9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分层架构设计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遵循依赖倒置原则（DIP）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1887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11887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API层（Controller）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对外接口 · RESTful API · HTTP请求处理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0" cy="18288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21488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2A5080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2148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Application层（ServiceImpl）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148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业务编排 · 事务管理 · 服务实现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0" cy="18288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28800" y="310896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3D6B99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03120" y="3108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Domain层（Entity / Service）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108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核心业务逻辑 · 实体定义 · 接口声明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886200"/>
            <a:ext cx="0" cy="18288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28800" y="40690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5A8AB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03120" y="4069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Infrastructure层（Repository）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4069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数据访问 · 仓库实现 · ORM交互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依赖方向 ↓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Domain层 — 核心业务逻辑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实体定义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@EntityProxy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 extends BaseEntity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ProxyEntityAvailable&lt;User, UserProxy&gt;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username;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passwordHash;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服务接口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UserService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createEntity(Object createDto);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updateEntity(UUID id, Object updateDto);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deleteEntity(UUID id);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Optional&lt;User&gt; getEntityById(UUID id);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仓库接口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UserRepository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Repository&lt;User, UserProxy&gt; {}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926080" cy="32004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54864" cy="3200400"/>
          </a:xfrm>
          <a:prstGeom prst="rect">
            <a:avLst/>
          </a:prstGeom>
          <a:solidFill>
            <a:srgbClr val="3D6B99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核心职责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574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定义业务实体（Entity）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6060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定义服务接口（Service）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546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定义仓库接口（Repository）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033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定义DTO和值对象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Infrastructure层 — 数据访问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UserRepositoryImpl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EasyQueryRepository&lt;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User, UserProxy,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UserProxy.UserProxyFetcher&gt;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UserRepository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Map&lt;String,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SQLActionExpression2&lt;...&gt;&gt;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navigateMap = new HashMap&lt;&gt;();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navigateMap.put(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User.Fields.currentTenant,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(c, p) -&gt; c.query(p.currentTenant()));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UserRepositoryImpl(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EasyEntityQuery easyEntityQuery)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super(easyEntityQuery, User.class,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proxy -&gt; proxy.FETCHER);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926080" cy="32004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54864" cy="3200400"/>
          </a:xfrm>
          <a:prstGeom prst="rect">
            <a:avLst/>
          </a:prstGeom>
          <a:solidFill>
            <a:srgbClr val="5A8AB5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核心职责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574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实现仓库接口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6060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处理数据访问逻辑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546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继承EasyQueryRepository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033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配置导航属性映射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Application层 — 业务编排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UserServiceImpl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EntityServiceImpl&lt;User, UserProxy&gt;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UserService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UserServiceImpl(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Converter converter,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UserRepository repository)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super(converter, repository, User.class);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继承基类即可获得：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 createEntity(createDto)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 updateEntity(id, updateDto)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 deleteEntity(id)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 getEntityById(id)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 getPagination(queryDto, pageable)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926080" cy="32004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54864" cy="3200400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核心职责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574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实现服务接口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6060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编排业务流程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546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继承EntityServiceImpl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033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事务管理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API层 — RESTful接口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474720"/>
          </a:xfrm>
          <a:prstGeom prst="rect">
            <a:avLst>
              <a:gd name="adj" fmla="val 157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@RequestMapping("/users")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@Tag(name = "用户", description = "用户操作")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UserController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@Resource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UserService userService;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@Operation(summary = "创建用户")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Response&lt;UUID&gt; create(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@RequestBody @Validated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@NotNull UserCreateDTO user)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created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userService.createEntity(user);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Response.success(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created.getId(),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"User created successfully");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@GetMapping("/{id}")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Response&lt;User&gt; getUserById(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@PathVariable UUID id) { ...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926080" cy="32004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54864" cy="3200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核心职责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574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提供RESTful API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6060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处理HTTP请求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1546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参数校验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033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配置API文档（SpringDoc）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代码演示：新增Department实体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从零创建一个完整的业务模块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234440" cy="14630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12344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64592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创建实体类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继承BaseEntity，定义业务字段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74520" y="2194560"/>
            <a:ext cx="9144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65960" y="1463040"/>
            <a:ext cx="1234440" cy="14630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65960" y="1463040"/>
            <a:ext cx="12344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164592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2148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创建仓库接口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24688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继承Repository接口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2194560"/>
            <a:ext cx="9144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91840" y="1463040"/>
            <a:ext cx="1234440" cy="14630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463040"/>
            <a:ext cx="123444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3703320" y="164592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2148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实现仓库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4688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继承EQ仓库基类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26280" y="2194560"/>
            <a:ext cx="9144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17720" y="1463040"/>
            <a:ext cx="1234440" cy="14630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463040"/>
            <a:ext cx="12344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16459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2148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创建服务接口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24688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定义业务方法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2194560"/>
            <a:ext cx="9144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943600" y="1463040"/>
            <a:ext cx="1234440" cy="14630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1463040"/>
            <a:ext cx="12344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6" name="Shape 34"/>
          <p:cNvSpPr/>
          <p:nvPr/>
        </p:nvSpPr>
        <p:spPr>
          <a:xfrm>
            <a:off x="6355080" y="16459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89320" y="2148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实现服务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89320" y="24688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继承ES服务基类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78040" y="2194560"/>
            <a:ext cx="9144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269480" y="1463040"/>
            <a:ext cx="1234440" cy="1463040"/>
          </a:xfrm>
          <a:prstGeom prst="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69480" y="1463040"/>
            <a:ext cx="12344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3" name="Shape 41"/>
          <p:cNvSpPr/>
          <p:nvPr/>
        </p:nvSpPr>
        <p:spPr>
          <a:xfrm>
            <a:off x="7680960" y="16459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15200" y="2148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创建控制器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24688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定义RESTful接口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只需6步即可创建一个完整的业务模块，所有CRUD操作自动可用！</a:t>
            </a:r>
            <a:endParaRPr lang="en-US" sz="13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步骤1-3：创建实体和仓库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>
              <a:gd name="adj" fmla="val 15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步骤1: 创建实体类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@EqualsAndHashCode(callSuper = 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@Table("sys_department")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@EntityProxy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Department extends BaseEntity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ProxyEntityAvailable&lt;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Department, DepartmentProxy&gt;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code;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UUID parentId;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步骤2: 创建仓库接口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DepartmentRepository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Repository&lt;Department, DepartmentProxy&gt; {}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步骤3: 实现仓库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DepartmentRepositoryImpl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EasyQueryRepository&lt;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Department, DepartmentProxy, ...&gt;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DepartmentRepository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DepartmentRepositoryImpl(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EasyEntityQuery eq)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super(eq, Department.class,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proxy -&gt; proxy.FETCHER);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步骤4-6：创建服务和控制器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108960"/>
          </a:xfrm>
          <a:prstGeom prst="rect">
            <a:avLst>
              <a:gd name="adj" fmla="val 1765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步骤4: 创建服务接口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DepartmentService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 createEntity(Object dto);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Optional&lt;Department&gt; getById(UUID id);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步骤5: 实现服务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DepartmentServiceImpl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EntityServiceImpl&lt;Department, DepartmentProxy&gt;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DepartmentService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DepartmentServiceImpl(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Converter converter,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DepartmentRepository repo)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super(converter, repo, Department.class);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步骤6: 创建控制器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@RequestMapping("/departments")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DepartmentController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@Resource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DepartmentService service;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@PostMapping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Response&lt;UUID&gt; create(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@RequestBody DepartmentCreateDTO dto)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Response.success(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service.createEntity(dto).getId());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2A508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课程总结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核心要点 · 架构优势 · 后续课程</a:t>
            </a:r>
            <a:endParaRPr lang="en-US" sz="14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核心要点回顾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88720"/>
            <a:ext cx="54864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280160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207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149961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+ Easy-Query + MapStruct-Plus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1901952"/>
            <a:ext cx="7315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901952"/>
            <a:ext cx="54864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1993392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ORM框架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45920" y="221284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Easy-Query提供类型安全、高性能的数据访问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615184"/>
            <a:ext cx="7315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2615184"/>
            <a:ext cx="54864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2706624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706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对象转换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29260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MapStruct-Plus实现编译期零开销的对象映射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328416"/>
            <a:ext cx="7315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328416"/>
            <a:ext cx="54864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" y="3419856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33467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多模块架构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45920" y="36393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module-base（基础）+ module-xxx（业务）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4041648"/>
            <a:ext cx="731520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4041648"/>
            <a:ext cx="54864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4133088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45920" y="4059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分层架构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45920" y="435254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Application → Domain → Infrastructure</a:t>
            </a:r>
            <a:endParaRPr lang="en-US" sz="10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架构优势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8288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182880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" y="1645920"/>
            <a:ext cx="594360" cy="59436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176479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高内聚低耦合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各层职责清晰，依赖关系明确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371600"/>
            <a:ext cx="18288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37160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Shape 10"/>
          <p:cNvSpPr/>
          <p:nvPr/>
        </p:nvSpPr>
        <p:spPr>
          <a:xfrm>
            <a:off x="3223260" y="1645920"/>
            <a:ext cx="594360" cy="59436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32" y="176479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可扩展性强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9748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新增业务实体只需6步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1371600"/>
            <a:ext cx="18288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1371600"/>
            <a:ext cx="1828800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Shape 15"/>
          <p:cNvSpPr/>
          <p:nvPr/>
        </p:nvSpPr>
        <p:spPr>
          <a:xfrm>
            <a:off x="5326380" y="1645920"/>
            <a:ext cx="594360" cy="594360"/>
          </a:xfrm>
          <a:prstGeom prst="ellipse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2" y="176479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0060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类型安全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0060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编译期检查，减少运行时错误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12280" y="1371600"/>
            <a:ext cx="18288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137160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0"/>
          <p:cNvSpPr/>
          <p:nvPr/>
        </p:nvSpPr>
        <p:spPr>
          <a:xfrm>
            <a:off x="7429500" y="1645920"/>
            <a:ext cx="594360" cy="59436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8372" y="1764792"/>
            <a:ext cx="356616" cy="35661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0372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高性能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03720" y="2834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编译期生成，优化查询</a:t>
            </a:r>
            <a:endParaRPr lang="en-US" sz="10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后续课程预告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37160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55448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54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数据库规范与Easy-Query基础功能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CRUD、BaseEntity、拦截器、分页、DTO查询、DTO排序等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73152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468880"/>
            <a:ext cx="54864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6517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651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SpringDoc、MapStruct-Plus、Java空安全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2971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API文档、对象映射进阶、空安全编程实践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566160"/>
            <a:ext cx="73152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566160"/>
            <a:ext cx="54864" cy="914400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37490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2A5080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749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第四课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68880" y="3657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多租户体系与Sa-Token权限认证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4069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多租户架构设计、权限认证体系、安全实践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74720"/>
            <a:ext cx="2286000" cy="166878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3200400" y="2560320"/>
            <a:ext cx="274320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B0C4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Skeleton 开发体系系列课程 · 第一课</a:t>
            </a:r>
            <a:endParaRPr lang="en-US" sz="12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第一课：项目框架基础与多模块架构</dc:title>
  <dc:subject>PptxGenJS Presentation</dc:subject>
  <dc:creator>Spring Cloud Skeleton Team</dc:creator>
  <cp:lastModifiedBy>Spring Cloud Skeleton Team</cp:lastModifiedBy>
  <cp:revision>1</cp:revision>
  <dcterms:created xsi:type="dcterms:W3CDTF">2026-04-25T07:16:47Z</dcterms:created>
  <dcterms:modified xsi:type="dcterms:W3CDTF">2026-04-25T07:16:47Z</dcterms:modified>
</cp:coreProperties>
</file>